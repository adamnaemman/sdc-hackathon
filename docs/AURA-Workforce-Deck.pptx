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417320"/>
            <a:ext cx="822960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D98E77"/>
                </a:solidFill>
                <a:latin typeface="Segoe UI Semibold"/>
              </a:rPr>
              <a:t>SDC HACKATHON 2026  ·  DOMAIN 1  ·  THE AIVERSECITY FUTURE-READY WORKFORCE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6200" b="1">
                <a:solidFill>
                  <a:srgbClr val="FFFFFF"/>
                </a:solidFill>
                <a:latin typeface="Segoe UI Semibold"/>
              </a:rPr>
              <a:t>AURA-Workforce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7863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0">
                <a:solidFill>
                  <a:srgbClr val="F6F2EA"/>
                </a:solidFill>
                <a:latin typeface="Segoe UI"/>
              </a:rPr>
              <a:t>Four checkpoints from the market evidence to a study plan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0">
                <a:solidFill>
                  <a:srgbClr val="F6F2EA"/>
                </a:solidFill>
                <a:latin typeface="Segoe UI"/>
              </a:rPr>
              <a:t>a person can actually follow.</a:t>
            </a:r>
          </a:p>
        </p:txBody>
      </p:sp>
      <p:pic>
        <p:nvPicPr>
          <p:cNvPr id="6" name="Picture 5" descr="device-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57400"/>
            <a:ext cx="3088937" cy="2377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5074920"/>
            <a:ext cx="10607040" cy="12700"/>
          </a:xfrm>
          <a:prstGeom prst="rect">
            <a:avLst/>
          </a:prstGeom>
          <a:solidFill>
            <a:srgbClr val="3A5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F6F2EA"/>
                </a:solidFill>
                <a:latin typeface="Segoe UI"/>
              </a:rPr>
              <a:t>overinfinity  ·  Ahmad Adam Hakimi bin Naeman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F6F2EA"/>
                </a:solidFill>
                <a:latin typeface="Segoe UI"/>
              </a:rPr>
              <a:t>International Islamic University 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D98E77"/>
                </a:solidFill>
                <a:latin typeface="Segoe UI"/>
              </a:rPr>
              <a:t>aura-workforce.replit.app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50" b="0">
                <a:solidFill>
                  <a:srgbClr val="D98E77"/>
                </a:solidFill>
                <a:latin typeface="Segoe UI"/>
              </a:rPr>
              <a:t>github.com/adamnaemman/sdc-hackathon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1F3A37"/>
                </a:solidFill>
                <a:latin typeface="Segoe UI Semibold"/>
              </a:rPr>
              <a:t>Workers are told to reskill,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1F3A37"/>
                </a:solidFill>
                <a:latin typeface="Segoe UI Semibold"/>
              </a:rPr>
              <a:t>but not what to do on Monday.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97480"/>
            <a:ext cx="32461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8529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352044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5B6B63"/>
                </a:solidFill>
                <a:latin typeface="Segoe UI"/>
              </a:rPr>
              <a:t>of Malaysian professionals already use AI at work — only 26% have had formal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4434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850" b="1">
                <a:solidFill>
                  <a:srgbClr val="D98E77"/>
                </a:solidFill>
                <a:latin typeface="Segoe UI Semibold"/>
              </a:rPr>
              <a:t>Hays Asia Salary Guide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8808" y="2697480"/>
            <a:ext cx="32461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8529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600,000+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52044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5B6B63"/>
                </a:solidFill>
                <a:latin typeface="Segoe UI"/>
              </a:rPr>
              <a:t>workers projected to need reskilling within three to five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434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850" b="1">
                <a:solidFill>
                  <a:srgbClr val="D98E77"/>
                </a:solidFill>
                <a:latin typeface="Segoe UI Semibold"/>
              </a:rPr>
              <a:t>MOSTI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0376" y="2697480"/>
            <a:ext cx="32461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28529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352044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5B6B63"/>
                </a:solidFill>
                <a:latin typeface="Segoe UI"/>
              </a:rPr>
              <a:t>of workers' core skills are expected to change by 2030.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434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850" b="1">
                <a:solidFill>
                  <a:srgbClr val="D98E77"/>
                </a:solidFill>
                <a:latin typeface="Segoe UI Semibold"/>
              </a:rPr>
              <a:t>WEF · Future of Jobs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>
                <a:solidFill>
                  <a:srgbClr val="1F3A37"/>
                </a:solidFill>
                <a:latin typeface="Segoe UI"/>
              </a:rPr>
              <a:t>Yet the advice a worker receives is generic, static and rarely cites a source — while the training they are told to buy is expensive and often already out of 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Domain 1 brief · 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1F3A37"/>
                </a:solidFill>
                <a:latin typeface="Segoe UI Semibold"/>
              </a:rPr>
              <a:t>Four people, one moment of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51760"/>
            <a:ext cx="50292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797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3A37"/>
                </a:solidFill>
                <a:latin typeface="Segoe UI Semibold"/>
              </a:rPr>
              <a:t>The displaced 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>
                <a:solidFill>
                  <a:srgbClr val="5B6B63"/>
                </a:solidFill>
                <a:latin typeface="Segoe UI"/>
              </a:rPr>
              <a:t>A procurement assistant whose routine work is being automated. Needs a route out, not sympathy.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651760"/>
            <a:ext cx="50292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7797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3A37"/>
                </a:solidFill>
                <a:latin typeface="Segoe UI Semibold"/>
              </a:rPr>
              <a:t>The switcher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090672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>
                <a:solidFill>
                  <a:srgbClr val="5B6B63"/>
                </a:solidFill>
                <a:latin typeface="Segoe UI"/>
              </a:rPr>
              <a:t>A nurse, designer or clerk deciding where existing skills can carry them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50292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05655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3A37"/>
                </a:solidFill>
                <a:latin typeface="Segoe UI Semibold"/>
              </a:rPr>
              <a:t>HR and L&amp;D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16551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>
                <a:solidFill>
                  <a:srgbClr val="5B6B63"/>
                </a:solidFill>
                <a:latin typeface="Segoe UI"/>
              </a:rPr>
              <a:t>Planning next year's reskilling budget and needing evidence, not vendor decks.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77639"/>
            <a:ext cx="50292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105655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1F3A37"/>
                </a:solidFill>
                <a:latin typeface="Segoe UI Semibold"/>
              </a:rPr>
              <a:t>TVET and university advisers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16551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>
                <a:solidFill>
                  <a:srgbClr val="5B6B63"/>
                </a:solidFill>
                <a:latin typeface="Segoe UI"/>
              </a:rPr>
              <a:t>Advising students from a printed list that was accurate five years ago.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moment: the week a person learns their role is changing. They do not want a prediction — they want to know what to do next, and whether to trust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Personas derived from the Domain 1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D98E77"/>
                </a:solidFill>
                <a:latin typeface="Segoe UI Semibold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One page. Four checkpoints.</a:t>
            </a:r>
          </a:p>
        </p:txBody>
      </p:sp>
      <p:pic>
        <p:nvPicPr>
          <p:cNvPr id="5" name="Picture 4" descr="device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1173480" cy="2240280"/>
          </a:xfrm>
          <a:prstGeom prst="rect">
            <a:avLst/>
          </a:prstGeom>
        </p:spPr>
      </p:pic>
      <p:pic>
        <p:nvPicPr>
          <p:cNvPr id="6" name="Picture 5" descr="device-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834640"/>
            <a:ext cx="2494910" cy="1920240"/>
          </a:xfrm>
          <a:prstGeom prst="rect">
            <a:avLst/>
          </a:prstGeom>
        </p:spPr>
      </p:pic>
      <p:pic>
        <p:nvPicPr>
          <p:cNvPr id="7" name="Picture 6" descr="device-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06040"/>
            <a:ext cx="3215286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224028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D98E77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Market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9631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850" b="0">
                <a:solidFill>
                  <a:srgbClr val="F6F2EA"/>
                </a:solidFill>
                <a:latin typeface="Segoe UI"/>
              </a:rPr>
              <a:t>Live demand from real postings,</a:t>
            </a:r>
            <a:br/>
            <a:r>
              <a:rPr sz="850" b="0">
                <a:solidFill>
                  <a:srgbClr val="F6F2EA"/>
                </a:solidFill>
                <a:latin typeface="Segoe UI"/>
              </a:rPr>
              <a:t>with the source and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004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D98E77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1729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Your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5643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850" b="0">
                <a:solidFill>
                  <a:srgbClr val="F6F2EA"/>
                </a:solidFill>
                <a:latin typeface="Segoe UI"/>
              </a:rPr>
              <a:t>The AI expands what you write</a:t>
            </a:r>
            <a:br/>
            <a:r>
              <a:rPr sz="850" b="0">
                <a:solidFill>
                  <a:srgbClr val="F6F2EA"/>
                </a:solidFill>
                <a:latin typeface="Segoe UI"/>
              </a:rPr>
              <a:t>into skills you choose.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160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D98E77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13308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Future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1655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850" b="0">
                <a:solidFill>
                  <a:srgbClr val="F6F2EA"/>
                </a:solidFill>
                <a:latin typeface="Segoe UI"/>
              </a:rPr>
              <a:t>Occupations proposed from your</a:t>
            </a:r>
            <a:br/>
            <a:r>
              <a:rPr sz="850" b="0">
                <a:solidFill>
                  <a:srgbClr val="F6F2EA"/>
                </a:solidFill>
                <a:latin typeface="Segoe UI"/>
              </a:rPr>
              <a:t>profile — not a fixed catalogue.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1206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1">
                <a:solidFill>
                  <a:srgbClr val="D98E77"/>
                </a:solidFill>
                <a:latin typeface="Segoe UI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932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Segoe UI Semibold"/>
              </a:rPr>
              <a:t>Learning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376672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850" b="0">
                <a:solidFill>
                  <a:srgbClr val="F6F2EA"/>
                </a:solidFill>
                <a:latin typeface="Segoe UI"/>
              </a:rPr>
              <a:t>A plan fitted to your weekly hours,</a:t>
            </a:r>
            <a:br/>
            <a:r>
              <a:rPr sz="850" b="0">
                <a:solidFill>
                  <a:srgbClr val="F6F2EA"/>
                </a:solidFill>
                <a:latin typeface="Segoe UI"/>
              </a:rPr>
              <a:t>with verified course links.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9AB0AB"/>
                </a:solidFill>
                <a:latin typeface="Segoe UI"/>
              </a:rPr>
              <a:t>Same page on phone, tablet and desktop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9AB0AB"/>
                </a:solidFill>
                <a:latin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CHECKPOINT 01 · MARKET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6035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Evidence, with its source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Three hundred recent public postings, refreshed on demand.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most requested skills plotted week by week — not a shortlist of our own roles.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Source, fetch time and sample size printed on the chart.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Six sourced labour-market signals from BLS and WEF, each with a source note.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screen says what it is not: a global feed, not Malaysian vacancy counts.</a:t>
            </a:r>
          </a:p>
        </p:txBody>
      </p:sp>
      <p:pic>
        <p:nvPicPr>
          <p:cNvPr id="6" name="Picture 5" descr="device-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297" y="2286000"/>
            <a:ext cx="3564158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532120"/>
            <a:ext cx="10607040" cy="566928"/>
          </a:xfrm>
          <a:prstGeom prst="roundRect">
            <a:avLst>
              <a:gd name="adj" fmla="val 140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B6B63"/>
                </a:solidFill>
                <a:latin typeface="Segoe UI"/>
              </a:rPr>
              <a:t>Numbers that cannot be checked are not shown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Checkpoint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CHECKPOINT 02 · YOUR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6035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Name what you already bring.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Role, industry and years of experience, then one model call.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AI expands that into concrete, selectable skills and tools.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Tools are pre-ticked because they are factual; judgement skills stay unticked.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Custom skills survive, so a title we never modelled still counts.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Weekly hours entered here become the schedule in checkpoint 04.</a:t>
            </a:r>
          </a:p>
        </p:txBody>
      </p:sp>
      <p:pic>
        <p:nvPicPr>
          <p:cNvPr id="6" name="Picture 5" descr="device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541" y="2286000"/>
            <a:ext cx="1436914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532120"/>
            <a:ext cx="10607040" cy="566928"/>
          </a:xfrm>
          <a:prstGeom prst="roundRect">
            <a:avLst>
              <a:gd name="adj" fmla="val 140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B6B63"/>
                </a:solidFill>
                <a:latin typeface="Segoe UI"/>
              </a:rPr>
              <a:t>Suggestions are offered, never applied on the person's behalf.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Checkpoint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CHECKPOINT 03 · FUTURE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6035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The roles the AI chose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model proposes occupations from the profile — including ones outside our catalogue.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Each comes with its reasoning, the skills to build, a first step, and a reference you can check.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No salary, growth figure or course link is shown for those occupations, because we could not source one.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They carry an explicit badge: exploratory, no verified pathway.</a:t>
            </a:r>
          </a:p>
        </p:txBody>
      </p:sp>
      <p:pic>
        <p:nvPicPr>
          <p:cNvPr id="6" name="Picture 5" descr="device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348" y="2286000"/>
            <a:ext cx="4019107" cy="2743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532120"/>
            <a:ext cx="10607040" cy="566928"/>
          </a:xfrm>
          <a:prstGeom prst="roundRect">
            <a:avLst>
              <a:gd name="adj" fmla="val 140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63270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B6B63"/>
                </a:solidFill>
                <a:latin typeface="Segoe UI"/>
              </a:rPr>
              <a:t>If the model cannot name a reference, the suggestion is discarded.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Checkpoint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CHECKPOINT 04 ·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400" b="1">
                <a:solidFill>
                  <a:srgbClr val="1F3A37"/>
                </a:solidFill>
                <a:latin typeface="Segoe UI Semibold"/>
              </a:rPr>
              <a:t>A plan built around the hours you actually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424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model may only choose courses from a library we verified, link by link.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Every step shows provider, hours and the reason it was ordered there.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The plan is divided by the weekly hours the person said they have.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If nothing fits, it returns study topics with real search links — never an invented course.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1F3A37"/>
                </a:solidFill>
                <a:latin typeface="Segoe UI"/>
              </a:rPr>
              <a:t>Export to PDF, with a QR code on every step for the classroom or a printed handout.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532120"/>
            <a:ext cx="10607040" cy="566928"/>
          </a:xfrm>
          <a:prstGeom prst="roundRect">
            <a:avLst>
              <a:gd name="adj" fmla="val 140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632704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5B6B63"/>
                </a:solidFill>
                <a:latin typeface="Segoe UI"/>
              </a:rPr>
              <a:t>Verified means fetched and checked before shipping.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Checkpoint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D98E77"/>
                </a:solidFill>
                <a:latin typeface="Segoe UI Semibold"/>
              </a:rPr>
              <a:t>TRUST,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What the AI may not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2542032" cy="2057400"/>
          </a:xfrm>
          <a:prstGeom prst="roundRect">
            <a:avLst>
              <a:gd name="adj" fmla="val 14000"/>
            </a:avLst>
          </a:prstGeom>
          <a:solidFill>
            <a:srgbClr val="2A4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2432304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Closed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88036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950" b="0">
                <a:solidFill>
                  <a:srgbClr val="F6F2EA"/>
                </a:solidFill>
                <a:latin typeface="Segoe UI"/>
              </a:rPr>
              <a:t>Every role and module identifier is validated against our catalogue; anything unknown is discarded before it reaches the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2286000"/>
            <a:ext cx="2542032" cy="2057400"/>
          </a:xfrm>
          <a:prstGeom prst="roundRect">
            <a:avLst>
              <a:gd name="adj" fmla="val 14000"/>
            </a:avLst>
          </a:prstGeom>
          <a:solidFill>
            <a:srgbClr val="2A4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432304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Visible disagreement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88036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950" b="0">
                <a:solidFill>
                  <a:srgbClr val="F6F2EA"/>
                </a:solidFill>
                <a:latin typeface="Segoe UI"/>
              </a:rPr>
              <a:t>The model's fit score is shown next to the deterministic estimate, so the two can be compared rather than blended.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2286000"/>
            <a:ext cx="2542032" cy="2057400"/>
          </a:xfrm>
          <a:prstGeom prst="roundRect">
            <a:avLst>
              <a:gd name="adj" fmla="val 14000"/>
            </a:avLst>
          </a:prstGeom>
          <a:solidFill>
            <a:srgbClr val="2A4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432304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No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88036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950" b="0">
                <a:solidFill>
                  <a:srgbClr val="F6F2EA"/>
                </a:solidFill>
                <a:latin typeface="Segoe UI"/>
              </a:rPr>
              <a:t>No account, no database, no CV. The profile lives in the browser tab and is gone when it closes.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42248" y="2286000"/>
            <a:ext cx="2542032" cy="2057400"/>
          </a:xfrm>
          <a:prstGeom prst="roundRect">
            <a:avLst>
              <a:gd name="adj" fmla="val 14000"/>
            </a:avLst>
          </a:prstGeom>
          <a:solidFill>
            <a:srgbClr val="2A4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432304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Injection treated as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2880360"/>
            <a:ext cx="2103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950" b="0">
                <a:solidFill>
                  <a:srgbClr val="F6F2EA"/>
                </a:solidFill>
                <a:latin typeface="Segoe UI"/>
              </a:rPr>
              <a:t>Free text is delimited, output is schema-validated, and the model never receives a tool that can write.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F6F2EA"/>
                </a:solidFill>
                <a:latin typeface="Segoe UI"/>
              </a:rPr>
              <a:t>Each rule is a validation path in the repository — not a promise in a document.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F6F2EA"/>
                </a:solidFill>
                <a:latin typeface="Segoe UI"/>
              </a:rPr>
              <a:t>The model chooses and explains; it never writes the catalogue.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9AB0AB"/>
                </a:solidFill>
                <a:latin typeface="Segoe UI"/>
              </a:rPr>
              <a:t>Enforced in code, not in a policy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9AB0AB"/>
                </a:solidFill>
                <a:latin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SDG IMPACT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4000" b="1">
                <a:solidFill>
                  <a:srgbClr val="1F3A37"/>
                </a:solidFill>
                <a:latin typeface="Segoe UI Semibold"/>
              </a:rPr>
              <a:t>Baseline, KPI, and a target we can be held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5029200" cy="3017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8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>
                <a:solidFill>
                  <a:srgbClr val="D98E77"/>
                </a:solidFill>
                <a:latin typeface="Segoe UI Semibold"/>
              </a:rPr>
              <a:t>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250" b="0">
                <a:solidFill>
                  <a:srgbClr val="1F3A37"/>
                </a:solidFill>
                <a:latin typeface="Segoe UI"/>
              </a:rPr>
              <a:t>4.4.1  Relevant skills for employment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250" b="0">
                <a:solidFill>
                  <a:srgbClr val="1F3A37"/>
                </a:solidFill>
                <a:latin typeface="Segoe UI"/>
              </a:rPr>
              <a:t>4.3.1  Access to lifelong learning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250" b="0">
                <a:solidFill>
                  <a:srgbClr val="1F3A37"/>
                </a:solidFill>
                <a:latin typeface="Segoe UI"/>
              </a:rPr>
              <a:t>8.5.2  Employment and decent work</a:t>
            </a:r>
          </a:p>
          <a:p>
            <a:pPr algn="l">
              <a:lnSpc>
                <a:spcPct val="170000"/>
              </a:lnSpc>
              <a:spcAft>
                <a:spcPts val="800"/>
              </a:spcAft>
            </a:pPr>
            <a:r>
              <a:rPr sz="1250" b="0">
                <a:solidFill>
                  <a:srgbClr val="1F3A37"/>
                </a:solidFill>
                <a:latin typeface="Segoe UI"/>
              </a:rPr>
              <a:t>8.2.1  Productivity through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06040"/>
            <a:ext cx="5120640" cy="3017520"/>
          </a:xfrm>
          <a:prstGeom prst="roundRect">
            <a:avLst>
              <a:gd name="adj" fmla="val 14000"/>
            </a:avLst>
          </a:prstGeom>
          <a:solidFill>
            <a:srgbClr val="1F3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743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>
                <a:solidFill>
                  <a:srgbClr val="D98E77"/>
                </a:solidFill>
                <a:latin typeface="Segoe UI Semibold"/>
              </a:rPr>
              <a:t>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06324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6F2EA"/>
                </a:solidFill>
                <a:latin typeface="Segoe UI"/>
              </a:rPr>
              <a:t>Baseline — 56% use AI, 26% trained, 600k need reskilling.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6F2EA"/>
                </a:solidFill>
                <a:latin typeface="Segoe UI"/>
              </a:rPr>
              <a:t>KPI — share of recommendations carrying a verifiable source and date; time to a ranked plan.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6F2EA"/>
                </a:solidFill>
                <a:latin typeface="Segoe UI"/>
              </a:rPr>
              <a:t>Phase 2 target — 100% sourced, under five minutes, with a Malaysian trend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5B6B63"/>
                </a:solidFill>
                <a:latin typeface="Segoe UI"/>
              </a:rPr>
              <a:t>We report the KPI we can be measured on, not the one that flatters 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SDG 4 ·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5B6B63"/>
                </a:solidFill>
                <a:latin typeface="Segoe UI Semibold"/>
              </a:rPr>
              <a:t>FEASIBILITY, AND THE RISK WE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000" b="1">
                <a:solidFill>
                  <a:srgbClr val="1F3A37"/>
                </a:solidFill>
                <a:latin typeface="Segoe UI Semibold"/>
              </a:rPr>
              <a:t>Hardest risk: the model inventing a job or a course.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6309360" cy="3246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D98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>
                <a:solidFill>
                  <a:srgbClr val="D98E77"/>
                </a:solidFill>
                <a:latin typeface="Segoe UI Semibold"/>
              </a:rPr>
              <a:t>RISK AND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5760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1F3A37"/>
                </a:solidFill>
                <a:latin typeface="Segoe UI"/>
              </a:rPr>
              <a:t>A generated role, course or statistic that does not exist.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1F3A37"/>
                </a:solidFill>
                <a:latin typeface="Segoe UI"/>
              </a:rPr>
              <a:t>·  Catalogue and library are closed; unknown IDs are dropped server-side.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1F3A37"/>
                </a:solidFill>
                <a:latin typeface="Segoe UI"/>
              </a:rPr>
              <a:t>·  The exploratory tier must name an occupational reference or the suggestion is removed.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1F3A37"/>
                </a:solidFill>
                <a:latin typeface="Segoe UI"/>
              </a:rPr>
              <a:t>·  Course steps resolve only to URLs we fetched and verified before shipping.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1F3A37"/>
                </a:solidFill>
                <a:latin typeface="Segoe UI"/>
              </a:rPr>
              <a:t>Second risk: a global job feed is not Malaysian vacancy data — stated on screen, fixed in Phase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148840"/>
            <a:ext cx="4069080" cy="3246120"/>
          </a:xfrm>
          <a:prstGeom prst="roundRect">
            <a:avLst>
              <a:gd name="adj" fmla="val 14000"/>
            </a:avLst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2860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50" b="1">
                <a:solidFill>
                  <a:srgbClr val="5B6B63"/>
                </a:solidFill>
                <a:latin typeface="Segoe UI Semibold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06040"/>
            <a:ext cx="35661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React 19 · Vite · Tailwind 4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TanStack Query · Wouter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Express 5 · Zod · OpenAPI + Orval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DeepSeek (declared)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O*NET 30.1 · Arbeitnow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050" b="0">
                <a:solidFill>
                  <a:srgbClr val="1F3A37"/>
                </a:solidFill>
                <a:latin typeface="Segoe UI"/>
              </a:rPr>
              <a:t>Replit hosting and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>
                <a:solidFill>
                  <a:srgbClr val="1F3A37"/>
                </a:solidFill>
                <a:latin typeface="Segoe UI"/>
              </a:rPr>
              <a:t>Live prototype: aura-workforce.replit.app      Repository: github.com/adamnaemman/sdc-hackathon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Every claim in this deck is reproducible from the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5B6B63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310896" cy="31750"/>
          </a:xfrm>
          <a:prstGeom prst="rect">
            <a:avLst/>
          </a:prstGeom>
          <a:solidFill>
            <a:srgbClr val="D9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050" b="1">
                <a:solidFill>
                  <a:srgbClr val="D98E77"/>
                </a:solidFill>
                <a:latin typeface="Segoe UI Semibold"/>
              </a:rP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Segoe UI Semibold"/>
              </a:rPr>
              <a:t>Phase 2: local data, sharper matching,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D98E77"/>
                </a:solidFill>
                <a:latin typeface="Segoe UI Semibold"/>
              </a:rPr>
              <a:t>Malaysian demand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230428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F6F2EA"/>
                </a:solidFill>
                <a:latin typeface="Segoe UI"/>
              </a:rPr>
              <a:t>DOSM and local postings, so ranking reflects the country rather than a global feed.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D98E77"/>
                </a:solidFill>
                <a:latin typeface="Segoe UI Semibold"/>
              </a:rPr>
              <a:t>Semantic skill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308152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F6F2EA"/>
                </a:solidFill>
                <a:latin typeface="Segoe UI"/>
              </a:rPr>
              <a:t>Embeddings instead of lexical overlap — the weakest part of the current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D98E77"/>
                </a:solidFill>
                <a:latin typeface="Segoe UI Semibold"/>
              </a:rPr>
              <a:t>Counsellor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385876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F6F2EA"/>
                </a:solidFill>
                <a:latin typeface="Segoe UI"/>
              </a:rPr>
              <a:t>Cohort gaps and shared plans for TVET and university advisers.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D98E77"/>
                </a:solidFill>
                <a:latin typeface="Segoe UI Semibold"/>
              </a:rPr>
              <a:t>Self-hosted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4636008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F6F2EA"/>
                </a:solidFill>
                <a:latin typeface="Segoe UI"/>
              </a:rPr>
              <a:t>RunPod credit already allocated; the client is OpenAI-compatible.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623560"/>
            <a:ext cx="10607040" cy="12700"/>
          </a:xfrm>
          <a:prstGeom prst="rect">
            <a:avLst/>
          </a:prstGeom>
          <a:solidFill>
            <a:srgbClr val="3A55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F6F2EA"/>
                </a:solidFill>
                <a:latin typeface="Segoe UI"/>
              </a:rPr>
              <a:t>overinfinity  ·  Ahmad Adam Hakimi bin Naeman  ·  IIUM  ·  SDC 2026, Domain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263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</a:pPr>
            <a:r>
              <a:rPr sz="900" b="0">
                <a:solidFill>
                  <a:srgbClr val="9AB0AB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